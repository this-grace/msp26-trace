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oppins"/>
      <p:bold r:id="rId11"/>
      <p:boldItalic r:id="rId12"/>
    </p:embeddedFon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.fntdata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37e700dd9_27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37e700dd9_27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3c26163d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3c26163dd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37e700dd9_42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37e700dd9_42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c26163dd_48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3c26163dd_48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0" y="0"/>
            <a:ext cx="12192000" cy="3810000"/>
            <a:chOff x="0" y="0"/>
            <a:chExt cx="12192000" cy="38100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12192000" cy="3810000"/>
            </a:xfrm>
            <a:prstGeom prst="rect">
              <a:avLst/>
            </a:prstGeom>
            <a:solidFill>
              <a:srgbClr val="F1F0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1143000"/>
              <a:ext cx="12192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60">
                  <a:solidFill>
                    <a:srgbClr val="584291"/>
                  </a:solidFill>
                  <a:latin typeface="Poppins"/>
                  <a:ea typeface="Poppins"/>
                  <a:cs typeface="Poppins"/>
                  <a:sym typeface="Poppins"/>
                </a:rPr>
                <a:t>Trace</a:t>
              </a:r>
              <a:endParaRPr b="1" sz="8160">
                <a:solidFill>
                  <a:srgbClr val="58429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2476500"/>
              <a:ext cx="1219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Semplifica la tua produttività, un compito alla volta.</a:t>
              </a:r>
              <a:endParaRPr b="0" sz="24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1714500" y="4191000"/>
            <a:ext cx="8763000" cy="1714500"/>
            <a:chOff x="1714500" y="4191000"/>
            <a:chExt cx="8763000" cy="1714500"/>
          </a:xfrm>
        </p:grpSpPr>
        <p:sp>
          <p:nvSpPr>
            <p:cNvPr id="89" name="Google Shape;89;p13"/>
            <p:cNvSpPr/>
            <p:nvPr/>
          </p:nvSpPr>
          <p:spPr>
            <a:xfrm>
              <a:off x="1714500" y="4191000"/>
              <a:ext cx="4000500" cy="17145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1714500" y="4191000"/>
              <a:ext cx="4000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Alessandro Rebosio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Matricola: 1130557</a:t>
              </a:r>
              <a:endParaRPr b="0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584291"/>
                  </a:solidFill>
                  <a:latin typeface="Inter"/>
                  <a:ea typeface="Inter"/>
                  <a:cs typeface="Inter"/>
                  <a:sym typeface="Inter"/>
                </a:rPr>
                <a:t>alessandro.rebosio@studio.unibo.it</a:t>
              </a:r>
              <a:endParaRPr b="0" sz="1300">
                <a:solidFill>
                  <a:srgbClr val="58429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477000" y="4191000"/>
              <a:ext cx="4000500" cy="17145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6477000" y="4191000"/>
              <a:ext cx="4000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Grazia Bochdanovits de Kavna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Matricola:</a:t>
              </a:r>
              <a:r>
                <a:rPr lang="en-US" sz="1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1117082</a:t>
              </a:r>
              <a:endParaRPr b="0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584291"/>
                  </a:solidFill>
                  <a:latin typeface="Inter"/>
                  <a:ea typeface="Inter"/>
                  <a:cs typeface="Inter"/>
                  <a:sym typeface="Inter"/>
                </a:rPr>
                <a:t>grazia.bochdanovits@studio.unibo.it</a:t>
              </a:r>
              <a:endParaRPr b="0" sz="1300">
                <a:solidFill>
                  <a:srgbClr val="58429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762000" y="1333500"/>
            <a:ext cx="59055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schermata di login di </a:t>
            </a:r>
            <a:r>
              <a:rPr b="1" lang="en-US" sz="1480">
                <a:solidFill>
                  <a:srgbClr val="584291"/>
                </a:solidFill>
                <a:latin typeface="Inter"/>
                <a:ea typeface="Inter"/>
                <a:cs typeface="Inter"/>
                <a:sym typeface="Inter"/>
              </a:rPr>
              <a:t>Trace</a:t>
            </a:r>
            <a:r>
              <a:rPr b="0" lang="en-US" sz="148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è progettata per la massima efficienza utente.</a:t>
            </a:r>
            <a:endParaRPr b="0" sz="148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571500"/>
            <a:ext cx="5715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4291"/>
                </a:solidFill>
                <a:latin typeface="Poppins"/>
                <a:ea typeface="Poppins"/>
                <a:cs typeface="Poppins"/>
                <a:sym typeface="Poppins"/>
              </a:rPr>
              <a:t>Accesso Intuitivo</a:t>
            </a:r>
            <a:endParaRPr b="1" sz="3600">
              <a:solidFill>
                <a:srgbClr val="58429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62000" y="571500"/>
            <a:ext cx="76200" cy="600000"/>
          </a:xfrm>
          <a:prstGeom prst="rect">
            <a:avLst/>
          </a:prstGeom>
          <a:solidFill>
            <a:srgbClr val="5842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762000" y="2095500"/>
            <a:ext cx="5905300" cy="1238448"/>
            <a:chOff x="762018" y="2442766"/>
            <a:chExt cx="2847300" cy="2409900"/>
          </a:xfrm>
        </p:grpSpPr>
        <p:sp>
          <p:nvSpPr>
            <p:cNvPr id="101" name="Google Shape;101;p14"/>
            <p:cNvSpPr/>
            <p:nvPr/>
          </p:nvSpPr>
          <p:spPr>
            <a:xfrm>
              <a:off x="762018" y="2442766"/>
              <a:ext cx="2847300" cy="24099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899796" y="2813461"/>
              <a:ext cx="2571900" cy="166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Accesso Classico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Supporto per email e password tradizionali per un'esperienza familiare.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762000" y="3524250"/>
            <a:ext cx="5905300" cy="1238448"/>
            <a:chOff x="3524253" y="2657351"/>
            <a:chExt cx="2847300" cy="2409900"/>
          </a:xfrm>
        </p:grpSpPr>
        <p:sp>
          <p:nvSpPr>
            <p:cNvPr id="104" name="Google Shape;104;p14"/>
            <p:cNvSpPr/>
            <p:nvPr/>
          </p:nvSpPr>
          <p:spPr>
            <a:xfrm>
              <a:off x="3524253" y="2657351"/>
              <a:ext cx="2847300" cy="2409900"/>
            </a:xfrm>
            <a:prstGeom prst="roundRect">
              <a:avLst>
                <a:gd fmla="val 1538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3662030" y="3028045"/>
              <a:ext cx="2571900" cy="166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Magic Link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Accesso rapido e sicuro senza password tramite link diretto via email.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762000" y="4953000"/>
            <a:ext cx="5905300" cy="952500"/>
            <a:chOff x="762025" y="5619225"/>
            <a:chExt cx="2847300" cy="952500"/>
          </a:xfrm>
        </p:grpSpPr>
        <p:sp>
          <p:nvSpPr>
            <p:cNvPr id="107" name="Google Shape;107;p14"/>
            <p:cNvSpPr/>
            <p:nvPr/>
          </p:nvSpPr>
          <p:spPr>
            <a:xfrm>
              <a:off x="762025" y="5619225"/>
              <a:ext cx="28473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899802" y="5809725"/>
              <a:ext cx="2571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GitHub Integration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Integrazione sicura con account GitHub esistenti.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b="13442" l="0" r="0" t="0"/>
          <a:stretch/>
        </p:blipFill>
        <p:spPr>
          <a:xfrm>
            <a:off x="7619800" y="0"/>
            <a:ext cx="356694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762000" y="571500"/>
            <a:ext cx="76200" cy="600000"/>
          </a:xfrm>
          <a:prstGeom prst="rect">
            <a:avLst/>
          </a:prstGeom>
          <a:solidFill>
            <a:srgbClr val="5842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571500"/>
            <a:ext cx="10287000" cy="60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4291"/>
                </a:solidFill>
                <a:latin typeface="Poppins"/>
                <a:ea typeface="Poppins"/>
                <a:cs typeface="Poppins"/>
                <a:sym typeface="Poppins"/>
              </a:rPr>
              <a:t>Gestione del Workflow</a:t>
            </a:r>
            <a:endParaRPr b="1" sz="3600">
              <a:solidFill>
                <a:srgbClr val="58429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6" name="Google Shape;116;p15"/>
          <p:cNvGrpSpPr/>
          <p:nvPr/>
        </p:nvGrpSpPr>
        <p:grpSpPr>
          <a:xfrm>
            <a:off x="476250" y="1524000"/>
            <a:ext cx="3429000" cy="4572000"/>
            <a:chOff x="476250" y="1524000"/>
            <a:chExt cx="3429000" cy="4572000"/>
          </a:xfrm>
        </p:grpSpPr>
        <p:sp>
          <p:nvSpPr>
            <p:cNvPr id="117" name="Google Shape;117;p15"/>
            <p:cNvSpPr/>
            <p:nvPr/>
          </p:nvSpPr>
          <p:spPr>
            <a:xfrm>
              <a:off x="476250" y="1524000"/>
              <a:ext cx="3429000" cy="4572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" name="Google Shape;118;p15"/>
            <p:cNvPicPr preferRelativeResize="0"/>
            <p:nvPr/>
          </p:nvPicPr>
          <p:blipFill rotWithShape="1">
            <a:blip r:embed="rId4">
              <a:alphaModFix/>
            </a:blip>
            <a:srcRect b="45337" l="1960" r="1960" t="0"/>
            <a:stretch/>
          </p:blipFill>
          <p:spPr>
            <a:xfrm>
              <a:off x="619125" y="1666875"/>
              <a:ext cx="3143400" cy="3429000"/>
            </a:xfrm>
            <a:prstGeom prst="roundRect">
              <a:avLst>
                <a:gd fmla="val 4848" name="adj"/>
              </a:avLst>
            </a:prstGeom>
            <a:noFill/>
            <a:ln>
              <a:noFill/>
            </a:ln>
          </p:spPr>
        </p:pic>
        <p:sp>
          <p:nvSpPr>
            <p:cNvPr id="119" name="Google Shape;119;p15"/>
            <p:cNvSpPr txBox="1"/>
            <p:nvPr/>
          </p:nvSpPr>
          <p:spPr>
            <a:xfrm>
              <a:off x="619125" y="5143500"/>
              <a:ext cx="31434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Dashboard Pulita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Interfaccia essenziale per favorire la concentrazione iniziale.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4381500" y="1524000"/>
            <a:ext cx="3429000" cy="4572000"/>
            <a:chOff x="4381500" y="1524000"/>
            <a:chExt cx="3429000" cy="4572000"/>
          </a:xfrm>
        </p:grpSpPr>
        <p:sp>
          <p:nvSpPr>
            <p:cNvPr id="121" name="Google Shape;121;p15"/>
            <p:cNvSpPr/>
            <p:nvPr/>
          </p:nvSpPr>
          <p:spPr>
            <a:xfrm>
              <a:off x="4381500" y="1524000"/>
              <a:ext cx="3429000" cy="4572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2" name="Google Shape;122;p15"/>
            <p:cNvPicPr preferRelativeResize="0"/>
            <p:nvPr/>
          </p:nvPicPr>
          <p:blipFill rotWithShape="1">
            <a:blip r:embed="rId5">
              <a:alphaModFix/>
            </a:blip>
            <a:srcRect b="43111" l="0" r="0" t="0"/>
            <a:stretch/>
          </p:blipFill>
          <p:spPr>
            <a:xfrm>
              <a:off x="4524375" y="1666875"/>
              <a:ext cx="3143400" cy="3429000"/>
            </a:xfrm>
            <a:prstGeom prst="roundRect">
              <a:avLst>
                <a:gd fmla="val 4848" name="adj"/>
              </a:avLst>
            </a:prstGeom>
            <a:noFill/>
            <a:ln>
              <a:noFill/>
            </a:ln>
          </p:spPr>
        </p:pic>
        <p:sp>
          <p:nvSpPr>
            <p:cNvPr id="123" name="Google Shape;123;p15"/>
            <p:cNvSpPr txBox="1"/>
            <p:nvPr/>
          </p:nvSpPr>
          <p:spPr>
            <a:xfrm>
              <a:off x="4524375" y="5143500"/>
              <a:ext cx="31434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Dettagli Task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Organizzazione intuitiva dei compiti e delle scadenze.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" name="Google Shape;124;p15"/>
          <p:cNvGrpSpPr/>
          <p:nvPr/>
        </p:nvGrpSpPr>
        <p:grpSpPr>
          <a:xfrm>
            <a:off x="8286750" y="1524000"/>
            <a:ext cx="3429000" cy="4572000"/>
            <a:chOff x="8286750" y="1524000"/>
            <a:chExt cx="3429000" cy="4572000"/>
          </a:xfrm>
        </p:grpSpPr>
        <p:sp>
          <p:nvSpPr>
            <p:cNvPr id="125" name="Google Shape;125;p15"/>
            <p:cNvSpPr/>
            <p:nvPr/>
          </p:nvSpPr>
          <p:spPr>
            <a:xfrm>
              <a:off x="8286750" y="1524000"/>
              <a:ext cx="3429000" cy="45720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15"/>
            <p:cNvPicPr preferRelativeResize="0"/>
            <p:nvPr/>
          </p:nvPicPr>
          <p:blipFill rotWithShape="1">
            <a:blip r:embed="rId6">
              <a:alphaModFix/>
            </a:blip>
            <a:srcRect b="43111" l="0" r="0" t="0"/>
            <a:stretch/>
          </p:blipFill>
          <p:spPr>
            <a:xfrm>
              <a:off x="8429625" y="1666875"/>
              <a:ext cx="3143400" cy="3429000"/>
            </a:xfrm>
            <a:prstGeom prst="roundRect">
              <a:avLst>
                <a:gd fmla="val 4848" name="adj"/>
              </a:avLst>
            </a:prstGeom>
            <a:noFill/>
            <a:ln>
              <a:noFill/>
            </a:ln>
          </p:spPr>
        </p:pic>
        <p:sp>
          <p:nvSpPr>
            <p:cNvPr id="127" name="Google Shape;127;p15"/>
            <p:cNvSpPr txBox="1"/>
            <p:nvPr/>
          </p:nvSpPr>
          <p:spPr>
            <a:xfrm>
              <a:off x="8429625" y="5143500"/>
              <a:ext cx="31434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Pianificazione Rapida</a:t>
              </a:r>
              <a:endParaRPr b="1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Il tasto </a:t>
              </a:r>
              <a:r>
                <a:rPr b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"+"</a:t>
              </a: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permette di iniziare immediatamente.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762000" y="571500"/>
            <a:ext cx="76200" cy="600000"/>
          </a:xfrm>
          <a:prstGeom prst="rect">
            <a:avLst/>
          </a:prstGeom>
          <a:solidFill>
            <a:srgbClr val="5842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571500"/>
            <a:ext cx="5937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4291"/>
                </a:solidFill>
                <a:latin typeface="Poppins"/>
                <a:ea typeface="Poppins"/>
                <a:cs typeface="Poppins"/>
                <a:sym typeface="Poppins"/>
              </a:rPr>
              <a:t>Profilo Utente</a:t>
            </a:r>
            <a:endParaRPr b="1" sz="3600">
              <a:solidFill>
                <a:srgbClr val="58429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1285875"/>
            <a:ext cx="666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6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Il profilo di Trace offre una panoramica chiara delle informazioni dell'account.</a:t>
            </a:r>
            <a:endParaRPr b="0" sz="136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5" name="Google Shape;135;p16"/>
          <p:cNvGrpSpPr/>
          <p:nvPr/>
        </p:nvGrpSpPr>
        <p:grpSpPr>
          <a:xfrm>
            <a:off x="762000" y="2000250"/>
            <a:ext cx="3048000" cy="1905000"/>
            <a:chOff x="762000" y="2000250"/>
            <a:chExt cx="3048000" cy="1905000"/>
          </a:xfrm>
        </p:grpSpPr>
        <p:sp>
          <p:nvSpPr>
            <p:cNvPr id="136" name="Google Shape;136;p16"/>
            <p:cNvSpPr/>
            <p:nvPr/>
          </p:nvSpPr>
          <p:spPr>
            <a:xfrm>
              <a:off x="762000" y="2000250"/>
              <a:ext cx="3048000" cy="1905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1000125" y="2619375"/>
              <a:ext cx="2571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Gestione Account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Modifica dell'avatar, verifica del metodo di login e monitoraggio degli ultimi accessi.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4000500" y="2000250"/>
            <a:ext cx="3048000" cy="1905000"/>
            <a:chOff x="4000500" y="2000250"/>
            <a:chExt cx="3048000" cy="1905000"/>
          </a:xfrm>
        </p:grpSpPr>
        <p:sp>
          <p:nvSpPr>
            <p:cNvPr id="139" name="Google Shape;139;p16"/>
            <p:cNvSpPr/>
            <p:nvPr/>
          </p:nvSpPr>
          <p:spPr>
            <a:xfrm>
              <a:off x="4000500" y="2000250"/>
              <a:ext cx="3048000" cy="1905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4238625" y="2619375"/>
              <a:ext cx="2571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Personalizzazione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Cambio tema con scelta tra chiaro, scuro o configurazione automatica di sistema.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762000" y="4095750"/>
            <a:ext cx="3048000" cy="1905000"/>
            <a:chOff x="762000" y="4095750"/>
            <a:chExt cx="3048000" cy="1905000"/>
          </a:xfrm>
        </p:grpSpPr>
        <p:sp>
          <p:nvSpPr>
            <p:cNvPr id="142" name="Google Shape;142;p16"/>
            <p:cNvSpPr/>
            <p:nvPr/>
          </p:nvSpPr>
          <p:spPr>
            <a:xfrm>
              <a:off x="762000" y="4095750"/>
              <a:ext cx="3048000" cy="1905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1000125" y="4714875"/>
              <a:ext cx="2571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Geolocalizzazione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Visualizzazione immediata della propria posizione attuale direttamente sulla mappa.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4000500" y="4095750"/>
            <a:ext cx="3048000" cy="1905000"/>
            <a:chOff x="4000500" y="4095750"/>
            <a:chExt cx="3048000" cy="1905000"/>
          </a:xfrm>
        </p:grpSpPr>
        <p:sp>
          <p:nvSpPr>
            <p:cNvPr id="145" name="Google Shape;145;p16"/>
            <p:cNvSpPr/>
            <p:nvPr/>
          </p:nvSpPr>
          <p:spPr>
            <a:xfrm>
              <a:off x="4000500" y="4095750"/>
              <a:ext cx="3048000" cy="1905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4238625" y="4714875"/>
              <a:ext cx="2571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Sicurezza Avanzata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L'eliminazione dell'account è protetta e richiede l'</a:t>
              </a:r>
              <a:r>
                <a:rPr b="1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autorizzazione biometrica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&lt;svg xmlns=&quot;http://www.w3.org/2000/svg&quot; height=&quot;40px&quot; viewBox=&quot;0 -960 960 960&quot; width=&quot;40px&quot; fill=&quot;#584291&quot;&gt;&lt;path d=&quot;M480-80q-82 0-155-31.5t-127.5-86Q143-252 111.5-325T80-480q0-84.33 32.17-157.33 32.16-73 87.66-127t129.84-84.84Q404-880 488.67-880 568-880 639-853.17q71 26.84 124.5 74.34t85 112.66Q880-601 880-524q0 110.33-65.33 172.5-65.34 62.17-168 62.17H572q-15 0-24.83 11-9.84 11-9.84 24.33 0 22 14.67 42.17 14.67 20.16 14.67 46.5 0 42-23.17 63.66Q520.33-80 480-80Zm0-400Zm-191 15q15.67-15.67 15.67-37.67T289-540.33Q273.33-556 251.33-556t-37.66 15.67Q198-524.67 198-502.67q0 22 15.67 37.67 15.66 15.67 37.66 15.67 22 0 37.67-15.67Zm124-166.67q15.67-15.66 15.67-37.66 0-22-15.67-37.67-15.67-15.67-37.67-15.67T337.67-707Q322-691.33 322-669.33t15.67 37.66Q353.33-616 375.33-616q22 0 37.67-15.67Zm209.33 0Q638-647.33 638-669.33q0-22-15.67-37.67-15.66-15.67-37.66-15.67-22 0-37.67 15.67-15.67 15.67-15.67 37.67T547-631.67Q562.67-616 584.67-616t37.66-15.67ZM749.67-465q15.66-15.67 15.66-37.67t-15.66-37.66Q734-556 712-556t-37.67 15.67q-15.66 15.66-15.66 37.66 0 22 15.66 37.67Q690-449.33 712-449.33T749.67-465ZM480-146.67q10.33 0 15.17-4.66 4.83-4.67 4.83-14 0-14-14.67-28.34Q470.67-208 470.67-248q0-44.67 29.66-76.33Q530-356 574.67-356h72q72.66 0 119.66-42.5t47-125.5q0-128.33-97.5-208.83t-227.16-80.5q-142.67 0-242.34 96.66Q146.67-620 146.67-480q0 138.33 97.5 235.83T480-146.67Z&quot;/&gt;&lt;/svg&gt;" id="147" name="Google Shape;14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0050" y="2245450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584291&quot;&gt;&lt;path d=&quot;M531.83-508.17q21.5-21.5 21.5-51.83t-21.5-51.83q-21.5-21.5-51.83-21.5t-51.83 21.5q-21.5 21.5-21.5 51.83t21.5 51.83q21.5 21.5 51.83 21.5t51.83-21.5ZM480-168q129.33-118 191.33-214.17 62-96.16 62-169.83 0-115-73.5-188.17-73.5-73.16-179.83-73.16-106.33 0-179.83 73.16Q226.67-667 226.67-552q0 73.67 63 169.83Q352.67-286 480-168Zm0 88Q319-217 239.5-334.5T160-552q0-150 96.5-239T480-880q127 0 223.5 89T800-552q0 100-79.5 217.5T480-80Zm0-480Z&quot;/&gt;&lt;/svg&gt;" id="148" name="Google Shape;14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2025" y="429257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584291&quot;&gt;&lt;path d=&quot;M481-779.67q107.33 0 202.33 45.84 95 45.83 158 131.83 4.34 6.33 3.17 10.67-1.17 4.33-5.17 8-4 3.66-9.66 3.5Q824-580 819.33-586q-57.66-80.67-147.5-123.83Q582-753 481-753q-101 0-189.33 43.5-88.34 43.5-147 123.5-4.67 6.33-9.67 7.33t-9.67-2q-5-3-5.5-8.5t2.84-10.83q62-85.67 156.5-132.67 94.5-47 201.83-47Zm0 95.34q135.67 0 233 90 97.33 90 97.33 222.33 0 47.33-34.5 79.83t-83.5 32.5q-49.66 0-85.16-32.5T572.67-372q0-37-27.17-61.83-27.17-24.84-64.5-24.84t-64.83 24.84Q388.67-409 388.67-372q0 101.67 61.16 169.67Q511-134.33 604-107q7 2.33 9 6.67 2 4.33.67 9.66-1.34 5.67-5.34 8.67T598-81q-103.33-26-169.67-103.17Q362-261.33 362-372q0-48 35-80.67 35-32.66 84-32.66t84 32.66Q600-420 600-372q0 36.33 28 61.17Q656-286 693.33-286 730-286 757-310.83q27-24.84 27-61.17 0-120.67-89.33-202.33Q605.33-656 481.33-656T268-574.33q-89.33 81.66-89.33 202 0 24 5.16 61.66Q189-273 206.67-224.33 209-218 206.5-214t-7.17 6.33q-5.33 2.34-10.83.5-5.5-1.83-7.83-7.83-13.67-38.33-20.84-77.5-7.16-39.17-7.16-79.5 0-130.33 97.5-221.33t230.83-91Zm0-195.34q64.67 0 126.67 15.84 62 15.83 119 44.83 6.33 3 7.16 8 .84 5-1.5 9.33-2.33 4.34-7 7Q720.67-792 714-795q-54.33-27-113.17-42.17Q542-852.33 481-852.33q-60.67 0-118.67 14.16-58 14.17-111 43.17-6 3-10.33 1.17-4.33-1.84-7-6.5-2.67-4-2-8.84.67-4.83 5.33-7.83Q294-847.67 356-863.67t125-16Zm0 295q92.33 0 159 61.5T706.67-372q0 6.33-3.5 9.83t-9.84 3.5q-6 0-10-3.5t-4-9.83q0-79-58.83-132.5T481-558q-80.67 0-138.5 53.5T284.67-372q0 83.67 29 142.5t85.66 117.83Q404-107 403.67-102q-.34 5-4.34 9-3.33 3.33-9 4.33-5.66 1-10.33-4.33-58.33-60.67-90.5-126.17T257.33-372q0-89.67 65.67-151.17 65.67-61.5 158-61.5ZM480-386q6.33 0 9.83 4t3.5 10q0 79 57.67 130t133.67 51q7.33 0 18.33-1 11-1 23.67-3 6.33-1.33 10.5 1.83 4.16 3.17 5.5 8.17 1.33 5.33-1.34 9.33-2.66 4-8.66 5.34-18 5-31.5 5.5t-16.5.5q-88.34 0-153.17-59-64.83-59-64.83-148.67 0-6 3.5-10t9.83-4Z&quot;/&gt;&lt;/svg&gt;" id="149" name="Google Shape;14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0050" y="429257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584291&quot;&gt;&lt;path d=&quot;M290.33-527q-43.66-43.67-43.66-109.67t43.66-109.66Q334-790 400-790t109.67 43.67q43.66 43.66 43.66 109.66T509.67-527Q466-483.33 400-483.33T290.33-527ZM80-162.67v-100q0-34.33 17.33-62.66 17.34-28.34 49.34-43.34 65-30 127.33-45.33 62.33-15.33 126-15.33h12.33q6.34 0 11.67.66-6.67 15.34-10.5 30.84t-6.17 35.16H400q-62.33 0-118.17 14.34Q226-334 174.67-308.67q-13.67 7-20.84 19.67-7.16 12.67-7.16 26.33v33.34H410q5.33 19 13.33 35.5T442-162.67H80ZM658-120l-10.67-64q-15.33-5-30.5-13.17Q601.67-205.33 590-216l-56 14-30-50.67 46.67-42.66q-2-10.67-2-25.34 0-14.66 2-25.33L504-388.67l30-50.66 56 14q11.67-10.67 26.83-18.84 15.17-8.16 30.5-13.16l10.67-64h62.67l10.66 64q15.34 5 30.5 13.33 15.17 8.33 26.84 19.33l56-14.66 30 51.33L828-345.33q2 10 2 25t-2 25l46.67 42.66-30 50.67-56-14q-11.67 10.67-26.84 18.83-15.16 8.17-30.5 13.17l-10.66 64H658Zm88.83-143.17q22.5-22.5 22.5-57.5t-22.5-57.5q-22.5-22.5-57.5-22.5t-57.5 22.5q-22.5 22.5-22.5 57.5t22.5 57.5q22.5 22.5 57.5 22.5t57.5-22.5Zm-285-311.66q24.84-24.84 24.84-61.84t-24.84-61.83Q437-723.33 400-723.33t-61.83 24.83q-24.84 24.83-24.84 61.83t24.84 61.84Q363-550 400-550t61.83-24.83ZM400-636.67Zm10 407.34Z&quot;/&gt;&lt;/svg&gt;" id="150" name="Google Shape;15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2025" y="2245450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35850" y="152400"/>
            <a:ext cx="2950220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/>
        </p:nvSpPr>
        <p:spPr>
          <a:xfrm>
            <a:off x="952500" y="571500"/>
            <a:ext cx="10287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584291"/>
                </a:solidFill>
                <a:latin typeface="Poppins"/>
                <a:ea typeface="Poppins"/>
                <a:cs typeface="Poppins"/>
                <a:sym typeface="Poppins"/>
              </a:rPr>
              <a:t>Traduzione App</a:t>
            </a:r>
            <a:endParaRPr b="1" sz="3600">
              <a:solidFill>
                <a:srgbClr val="58429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62000" y="571500"/>
            <a:ext cx="76200" cy="600000"/>
          </a:xfrm>
          <a:prstGeom prst="rect">
            <a:avLst/>
          </a:prstGeom>
          <a:solidFill>
            <a:srgbClr val="5842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17"/>
          <p:cNvGrpSpPr/>
          <p:nvPr/>
        </p:nvGrpSpPr>
        <p:grpSpPr>
          <a:xfrm>
            <a:off x="762000" y="1714500"/>
            <a:ext cx="10668000" cy="4381500"/>
            <a:chOff x="762000" y="1714500"/>
            <a:chExt cx="10668000" cy="4381500"/>
          </a:xfrm>
        </p:grpSpPr>
        <p:grpSp>
          <p:nvGrpSpPr>
            <p:cNvPr id="159" name="Google Shape;159;p17"/>
            <p:cNvGrpSpPr/>
            <p:nvPr/>
          </p:nvGrpSpPr>
          <p:grpSpPr>
            <a:xfrm>
              <a:off x="762000" y="1714500"/>
              <a:ext cx="3429000" cy="4381500"/>
              <a:chOff x="762000" y="1714500"/>
              <a:chExt cx="3429000" cy="4381500"/>
            </a:xfrm>
          </p:grpSpPr>
          <p:sp>
            <p:nvSpPr>
              <p:cNvPr id="160" name="Google Shape;160;p17"/>
              <p:cNvSpPr/>
              <p:nvPr/>
            </p:nvSpPr>
            <p:spPr>
              <a:xfrm>
                <a:off x="762000" y="1714500"/>
                <a:ext cx="3429000" cy="438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1" name="Google Shape;161;p17"/>
              <p:cNvPicPr preferRelativeResize="0"/>
              <p:nvPr/>
            </p:nvPicPr>
            <p:blipFill rotWithShape="1">
              <a:blip r:embed="rId3">
                <a:alphaModFix/>
              </a:blip>
              <a:srcRect b="47851" l="0" r="0" t="0"/>
              <a:stretch/>
            </p:blipFill>
            <p:spPr>
              <a:xfrm>
                <a:off x="952500" y="1905000"/>
                <a:ext cx="3048000" cy="3048000"/>
              </a:xfrm>
              <a:prstGeom prst="roundRect">
                <a:avLst>
                  <a:gd fmla="val 5000" name="adj"/>
                </a:avLst>
              </a:prstGeom>
              <a:noFill/>
              <a:ln>
                <a:noFill/>
              </a:ln>
            </p:spPr>
          </p:pic>
          <p:sp>
            <p:nvSpPr>
              <p:cNvPr id="162" name="Google Shape;162;p17"/>
              <p:cNvSpPr txBox="1"/>
              <p:nvPr/>
            </p:nvSpPr>
            <p:spPr>
              <a:xfrm>
                <a:off x="952500" y="5048250"/>
                <a:ext cx="3048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English (EN)</a:t>
                </a:r>
                <a:endParaRPr b="1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global accessibility for international users.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3" name="Google Shape;163;p17"/>
            <p:cNvGrpSpPr/>
            <p:nvPr/>
          </p:nvGrpSpPr>
          <p:grpSpPr>
            <a:xfrm>
              <a:off x="4381500" y="1714500"/>
              <a:ext cx="3429000" cy="4381500"/>
              <a:chOff x="4381500" y="1714500"/>
              <a:chExt cx="3429000" cy="4381500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4381500" y="1714500"/>
                <a:ext cx="3429000" cy="438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5" name="Google Shape;165;p17"/>
              <p:cNvPicPr preferRelativeResize="0"/>
              <p:nvPr/>
            </p:nvPicPr>
            <p:blipFill rotWithShape="1">
              <a:blip r:embed="rId4">
                <a:alphaModFix/>
              </a:blip>
              <a:srcRect b="47851" l="0" r="0" t="0"/>
              <a:stretch/>
            </p:blipFill>
            <p:spPr>
              <a:xfrm>
                <a:off x="4572000" y="1905000"/>
                <a:ext cx="3048000" cy="3048000"/>
              </a:xfrm>
              <a:prstGeom prst="roundRect">
                <a:avLst>
                  <a:gd fmla="val 5000" name="adj"/>
                </a:avLst>
              </a:prstGeom>
              <a:noFill/>
              <a:ln>
                <a:noFill/>
              </a:ln>
            </p:spPr>
          </p:pic>
          <p:sp>
            <p:nvSpPr>
              <p:cNvPr id="166" name="Google Shape;166;p17"/>
              <p:cNvSpPr txBox="1"/>
              <p:nvPr/>
            </p:nvSpPr>
            <p:spPr>
              <a:xfrm>
                <a:off x="4572000" y="5048250"/>
                <a:ext cx="3048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Italiano (IT)</a:t>
                </a:r>
                <a:endParaRPr b="1" sz="16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Localized experience for native Italian speakers.</a:t>
                </a:r>
                <a:endParaRPr b="0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7" name="Google Shape;167;p17"/>
            <p:cNvGrpSpPr/>
            <p:nvPr/>
          </p:nvGrpSpPr>
          <p:grpSpPr>
            <a:xfrm>
              <a:off x="8001000" y="1714500"/>
              <a:ext cx="3429000" cy="4381500"/>
              <a:chOff x="8001000" y="1714500"/>
              <a:chExt cx="3429000" cy="4381500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8001000" y="1714500"/>
                <a:ext cx="3429000" cy="4381500"/>
              </a:xfrm>
              <a:prstGeom prst="roundRect">
                <a:avLst>
                  <a:gd fmla="val 6666" name="adj"/>
                </a:avLst>
              </a:prstGeom>
              <a:solidFill>
                <a:srgbClr val="F1F0FB"/>
              </a:solidFill>
              <a:ln cap="flat" cmpd="sng" w="19050">
                <a:solidFill>
                  <a:srgbClr val="58429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8286750" y="3619500"/>
                <a:ext cx="2857500" cy="1714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800" u="none" strike="noStrike">
                    <a:solidFill>
                      <a:srgbClr val="584291"/>
                    </a:solidFill>
                    <a:latin typeface="Inter"/>
                    <a:ea typeface="Inter"/>
                    <a:cs typeface="Inter"/>
                    <a:sym typeface="Inter"/>
                  </a:rPr>
                  <a:t>Rilevamento Automatico</a:t>
                </a:r>
                <a:endParaRPr b="1" i="0" sz="1800" u="none" strike="noStrike">
                  <a:solidFill>
                    <a:srgbClr val="58429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i="0" lang="en-US" sz="1200" u="none" strike="noStrik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L'app rileva la lingua del sistema e applica istantaneamente la traduzione corretta senza alcun intervento manuale.</a:t>
                </a:r>
                <a:endParaRPr b="1" i="0" sz="1200" u="none" strike="noStrike">
                  <a:solidFill>
                    <a:srgbClr val="58429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descr="&lt;svg xmlns=&quot;http://www.w3.org/2000/svg&quot; height=&quot;40px&quot; viewBox=&quot;0 -960 960 960&quot; width=&quot;40px&quot; fill=&quot;#584291&quot;&gt;&lt;path d=&quot;M164.67-160v-66.67H288l-15.33-12.66q-60-49.34-86.34-109Q160-408 160-477.33q0-107.67 63.83-192.84 63.84-85.16 167.5-115.83v69.33q-74 28-119.33 93.84-45.33 65.83-45.33 145.5 0 57 21.33 102.16 21.33 45.17 60 79.84L331.33-278v-115.33H398V-160H164.67Zm404.66-13.33v-70q74.67-28 119.34-93.84 44.66-65.83 44.66-145.5 0-47-21.33-94.16-21.33-47.17-58.67-84.5L630.67-682v115.33H564V-800h233.33v66.67h-124l15.34 14q56.33 53.66 83.83 115.5Q800-542 800-482.67 800-375 736.5-289.5 673-204 569.33-173.33Z&quot;/&gt;&lt;/svg&gt;" id="170" name="Google Shape;17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39300" y="2973088"/>
            <a:ext cx="911825" cy="9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